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1192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CAPABILITY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76300"/>
            <a:ext cx="11192256" cy="54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4"/>
              </a:lnSpc>
              <a:spcAft>
                <a:spcPts val="1050"/>
              </a:spcAft>
              <a:buNone/>
            </a:pPr>
            <a:r>
              <a:rPr lang="en-US" sz="4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SKILL-BASED QA PLANNING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600" y="1553617"/>
            <a:ext cx="738378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6D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QA planning shifts from analyst-led synthesis to a structured, skill-driven operating model.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9600" y="2572792"/>
            <a:ext cx="3530501" cy="1227683"/>
          </a:xfrm>
          <a:prstGeom prst="roundRect">
            <a:avLst>
              <a:gd name="adj" fmla="val 17069"/>
            </a:avLst>
          </a:prstGeom>
          <a:solidFill>
            <a:srgbClr val="FFF7F2"/>
          </a:solidFill>
          <a:ln w="9525">
            <a:solidFill>
              <a:srgbClr val="FA6611"/>
            </a:solidFill>
          </a:ln>
          <a:effectLst>
            <a:outerShdw sx="100000" sy="100000" kx="0" ky="0" algn="bl" rotWithShape="0" blurRad="228600" dist="95250" dir="5400000">
              <a:srgbClr val="fa6611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9625" y="2753767"/>
            <a:ext cx="3193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9625" y="3020467"/>
            <a:ext cx="31930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LLM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9625" y="3390007"/>
            <a:ext cx="3193060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and analyst-dependent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4330601" y="2572792"/>
            <a:ext cx="3530650" cy="1227683"/>
          </a:xfrm>
          <a:prstGeom prst="roundRect">
            <a:avLst>
              <a:gd name="adj" fmla="val 17069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30626" y="2753767"/>
            <a:ext cx="31932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30626" y="3020467"/>
            <a:ext cx="319321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LLM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30626" y="3390007"/>
            <a:ext cx="319321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skill + constraints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051750" y="2572792"/>
            <a:ext cx="3530501" cy="1227683"/>
          </a:xfrm>
          <a:prstGeom prst="roundRect">
            <a:avLst>
              <a:gd name="adj" fmla="val 17069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51775" y="2753767"/>
            <a:ext cx="3193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51775" y="3020467"/>
            <a:ext cx="31930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251775" y="3390007"/>
            <a:ext cx="3193060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Phased, gated workflow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09600" y="3990975"/>
            <a:ext cx="3530501" cy="1227683"/>
          </a:xfrm>
          <a:prstGeom prst="roundRect">
            <a:avLst>
              <a:gd name="adj" fmla="val 17069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9625" y="4171950"/>
            <a:ext cx="3193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625" y="4438650"/>
            <a:ext cx="31930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09625" y="4808190"/>
            <a:ext cx="3193060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creates quality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4330601" y="3990975"/>
            <a:ext cx="3530650" cy="1227683"/>
          </a:xfrm>
          <a:prstGeom prst="roundRect">
            <a:avLst>
              <a:gd name="adj" fmla="val 17069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30626" y="4171950"/>
            <a:ext cx="31932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30626" y="4438650"/>
            <a:ext cx="319321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530626" y="4808190"/>
            <a:ext cx="319321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vs challenger loop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8051750" y="3990975"/>
            <a:ext cx="3530501" cy="1227683"/>
          </a:xfrm>
          <a:prstGeom prst="roundRect">
            <a:avLst>
              <a:gd name="adj" fmla="val 17069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51775" y="4171950"/>
            <a:ext cx="3193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51775" y="4438650"/>
            <a:ext cx="31930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251775" y="4808190"/>
            <a:ext cx="3193060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Strong, but still scoped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609600" y="6124575"/>
            <a:ext cx="29063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example: `qa-plan-orchestrator`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572304" y="6124575"/>
            <a:ext cx="10302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6-slide story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5300"/>
            <a:ext cx="11503152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900"/>
              </a:spcAft>
              <a:buNone/>
            </a:pPr>
            <a:r>
              <a:rPr lang="en-US" sz="25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LLM: MANUAL QA PLANNING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200" y="959346"/>
            <a:ext cx="1150315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2100"/>
              </a:spcAft>
              <a:buNone/>
            </a:pPr>
            <a:r>
              <a:rPr lang="en-US" sz="16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planning depended on manual synthesis and personal judgment.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1477417"/>
            <a:ext cx="11277600" cy="3981450"/>
          </a:xfrm>
          <a:prstGeom prst="roundRect">
            <a:avLst>
              <a:gd name="adj" fmla="val 6699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  <a:effectLst>
            <a:outerShdw sx="100000" sy="100000" kx="0" ky="0" algn="bl" rotWithShape="0" blurRad="304800" dist="114300" dir="5400000">
              <a:srgbClr val="22222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1753642"/>
            <a:ext cx="1885950" cy="2343150"/>
          </a:xfrm>
          <a:prstGeom prst="roundRect">
            <a:avLst>
              <a:gd name="adj" fmla="val 10101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6300" y="1915567"/>
            <a:ext cx="1593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876300" y="2153692"/>
            <a:ext cx="159334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Aft>
                <a:spcPts val="1050"/>
              </a:spcAft>
              <a:buNone/>
            </a:pPr>
            <a:r>
              <a:rPr lang="en-US" sz="19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sources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76300" y="2941588"/>
            <a:ext cx="424458" cy="286643"/>
          </a:xfrm>
          <a:prstGeom prst="roundRect">
            <a:avLst>
              <a:gd name="adj" fmla="val 331962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81075" y="3008263"/>
            <a:ext cx="219206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dirty="0">
                <a:solidFill>
                  <a:srgbClr val="6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6958" y="2941588"/>
            <a:ext cx="491133" cy="286643"/>
          </a:xfrm>
          <a:prstGeom prst="roundRect">
            <a:avLst>
              <a:gd name="adj" fmla="val 331962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81733" y="3008263"/>
            <a:ext cx="287214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dirty="0">
                <a:solidFill>
                  <a:srgbClr val="6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6300" y="3304431"/>
            <a:ext cx="607368" cy="286643"/>
          </a:xfrm>
          <a:prstGeom prst="roundRect">
            <a:avLst>
              <a:gd name="adj" fmla="val 331962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81075" y="3371106"/>
            <a:ext cx="405774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dirty="0">
                <a:solidFill>
                  <a:srgbClr val="6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diff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59868" y="3304431"/>
            <a:ext cx="535632" cy="286643"/>
          </a:xfrm>
          <a:prstGeom prst="roundRect">
            <a:avLst>
              <a:gd name="adj" fmla="val 331962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64643" y="3371106"/>
            <a:ext cx="332604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dirty="0">
                <a:solidFill>
                  <a:srgbClr val="6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6300" y="3667274"/>
            <a:ext cx="802630" cy="286643"/>
          </a:xfrm>
          <a:prstGeom prst="roundRect">
            <a:avLst>
              <a:gd name="adj" fmla="val 331962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81075" y="3733949"/>
            <a:ext cx="604942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dirty="0">
                <a:solidFill>
                  <a:srgbClr val="6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bugs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93975" y="2763292"/>
            <a:ext cx="29146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3673525" y="1753642"/>
            <a:ext cx="1885950" cy="2343150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35450" y="1915567"/>
            <a:ext cx="1593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835450" y="2153692"/>
            <a:ext cx="159334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Aft>
                <a:spcPts val="1050"/>
              </a:spcAft>
              <a:buNone/>
            </a:pPr>
            <a:r>
              <a:rPr lang="en-US" sz="19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reading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835450" y="3161556"/>
            <a:ext cx="159334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D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reviews every artifact separately and rebuilds context by hand.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53125" y="2763292"/>
            <a:ext cx="29146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6632525" y="1753642"/>
            <a:ext cx="1885950" cy="2343150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94450" y="1915567"/>
            <a:ext cx="1593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794450" y="2153692"/>
            <a:ext cx="159334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Aft>
                <a:spcPts val="1050"/>
              </a:spcAft>
              <a:buNone/>
            </a:pPr>
            <a:r>
              <a:rPr lang="en-US" sz="19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mapping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794450" y="3161556"/>
            <a:ext cx="159334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D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and risk areas are inferred case by case, without a stable scaffold.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12275" y="2763292"/>
            <a:ext cx="29146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591675" y="1753642"/>
            <a:ext cx="1885950" cy="2343150"/>
          </a:xfrm>
          <a:prstGeom prst="roundRect">
            <a:avLst>
              <a:gd name="adj" fmla="val 10101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753600" y="1915567"/>
            <a:ext cx="1593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9753600" y="2153692"/>
            <a:ext cx="159334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Aft>
                <a:spcPts val="1050"/>
              </a:spcAft>
              <a:buNone/>
            </a:pPr>
            <a:r>
              <a:rPr lang="en-US" sz="19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Hand-built plan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753600" y="2963466"/>
            <a:ext cx="1593342" cy="990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D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varies by analyst experience, time available, and memory of prior misses.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4375" y="4306342"/>
            <a:ext cx="349880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742950" y="4439692"/>
            <a:ext cx="0" cy="647700"/>
          </a:xfrm>
          <a:prstGeom prst="line">
            <a:avLst/>
          </a:prstGeom>
          <a:noFill/>
          <a:ln w="57150">
            <a:solidFill>
              <a:srgbClr val="FA66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925" y="4439692"/>
            <a:ext cx="31995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23925" y="4744492"/>
            <a:ext cx="31995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starts from raw evidence review.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46525" y="4306342"/>
            <a:ext cx="349880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375100" y="4439692"/>
            <a:ext cx="0" cy="647700"/>
          </a:xfrm>
          <a:prstGeom prst="line">
            <a:avLst/>
          </a:prstGeom>
          <a:noFill/>
          <a:ln w="57150">
            <a:solidFill>
              <a:srgbClr val="FA66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6075" y="4439692"/>
            <a:ext cx="31995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556075" y="4744492"/>
            <a:ext cx="31995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depends on who writes the plan.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78676" y="4306342"/>
            <a:ext cx="3498949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8007251" y="4439692"/>
            <a:ext cx="0" cy="647700"/>
          </a:xfrm>
          <a:prstGeom prst="line">
            <a:avLst/>
          </a:prstGeom>
          <a:noFill/>
          <a:ln w="57150">
            <a:solidFill>
              <a:srgbClr val="FA66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88226" y="4439692"/>
            <a:ext cx="31997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reuse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188226" y="4744492"/>
            <a:ext cx="31997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and reasoning are rarely preserved cleanly.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5300"/>
            <a:ext cx="11503152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900"/>
              </a:spcAft>
              <a:buNone/>
            </a:pPr>
            <a:r>
              <a:rPr lang="en-US" sz="25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LLM: PROMPT + SKILL + CONSTRAINTS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200" y="959346"/>
            <a:ext cx="1150315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2100"/>
              </a:spcAft>
              <a:buNone/>
            </a:pPr>
            <a:r>
              <a:rPr lang="en-US" sz="16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prompting turns planning into a structured operating model.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1477417"/>
            <a:ext cx="3524250" cy="3052763"/>
          </a:xfrm>
          <a:prstGeom prst="roundRect">
            <a:avLst>
              <a:gd name="adj" fmla="val 8736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  <a:effectLst>
            <a:outerShdw sx="100000" sy="100000" kx="0" ky="0" algn="bl" rotWithShape="0" blurRad="304800" dist="114300" dir="5400000">
              <a:srgbClr val="22222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275" y="1696492"/>
            <a:ext cx="31478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INPUTS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6275" y="2001292"/>
            <a:ext cx="1415653" cy="1097756"/>
          </a:xfrm>
          <a:prstGeom prst="roundRect">
            <a:avLst>
              <a:gd name="adj" fmla="val 15618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9150" y="2144167"/>
            <a:ext cx="115250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9150" y="2439442"/>
            <a:ext cx="1152501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which capability to invoke.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06228" y="2001292"/>
            <a:ext cx="1556147" cy="1097756"/>
          </a:xfrm>
          <a:prstGeom prst="roundRect">
            <a:avLst>
              <a:gd name="adj" fmla="val 15618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49103" y="2144167"/>
            <a:ext cx="12958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49103" y="2439442"/>
            <a:ext cx="1295805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mandatory rules and output format.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76275" y="3213348"/>
            <a:ext cx="1415653" cy="1097756"/>
          </a:xfrm>
          <a:prstGeom prst="roundRect">
            <a:avLst>
              <a:gd name="adj" fmla="val 15618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9150" y="3356223"/>
            <a:ext cx="115250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9150" y="3651498"/>
            <a:ext cx="1152501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tickets, diffs, docs, or examples.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206228" y="3213348"/>
            <a:ext cx="1556147" cy="1097756"/>
          </a:xfrm>
          <a:prstGeom prst="roundRect">
            <a:avLst>
              <a:gd name="adj" fmla="val 15618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49103" y="3356223"/>
            <a:ext cx="12958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49103" y="3651498"/>
            <a:ext cx="1295805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feature family and domain grounding.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171950" y="2298948"/>
            <a:ext cx="1409700" cy="1409700"/>
          </a:xfrm>
          <a:prstGeom prst="roundRect">
            <a:avLst>
              <a:gd name="adj" fmla="val 18919"/>
            </a:avLst>
          </a:prstGeom>
          <a:solidFill>
            <a:srgbClr val="FA6611"/>
          </a:solidFill>
          <a:ln/>
          <a:effectLst>
            <a:outerShdw sx="100000" sy="100000" kx="0" ky="0" algn="bl" rotWithShape="0" blurRad="342900" dist="152400" dir="5400000">
              <a:srgbClr val="fa661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90036" y="2740968"/>
            <a:ext cx="1373529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qa-plan- orchestrator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34000" y="2851398"/>
            <a:ext cx="3303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5772150" y="1477417"/>
            <a:ext cx="5962650" cy="3052763"/>
          </a:xfrm>
          <a:prstGeom prst="roundRect">
            <a:avLst>
              <a:gd name="adj" fmla="val 8736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  <a:effectLst>
            <a:outerShdw sx="100000" sy="100000" kx="0" ky="0" algn="bl" rotWithShape="0" blurRad="304800" dist="114300" dir="5400000">
              <a:srgbClr val="22222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91225" y="1696492"/>
            <a:ext cx="56349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91225" y="2001292"/>
            <a:ext cx="5524500" cy="1095226"/>
          </a:xfrm>
          <a:prstGeom prst="roundRect">
            <a:avLst>
              <a:gd name="adj" fmla="val 19133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72200" y="2182267"/>
            <a:ext cx="526580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QA Plan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172200" y="2538413"/>
            <a:ext cx="526580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D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scenarios, explicit grouping, review gates, and consistent plan shape.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91225" y="3229868"/>
            <a:ext cx="1309688" cy="747713"/>
          </a:xfrm>
          <a:prstGeom prst="roundRect">
            <a:avLst>
              <a:gd name="adj" fmla="val 20382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15050" y="3353693"/>
            <a:ext cx="10832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15050" y="3563243"/>
            <a:ext cx="108327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workflow every run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396162" y="3229868"/>
            <a:ext cx="1309688" cy="747713"/>
          </a:xfrm>
          <a:prstGeom prst="roundRect">
            <a:avLst>
              <a:gd name="adj" fmla="val 20382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519988" y="3353693"/>
            <a:ext cx="10832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19988" y="3563243"/>
            <a:ext cx="108327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and context retained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801100" y="3229868"/>
            <a:ext cx="1309688" cy="747713"/>
          </a:xfrm>
          <a:prstGeom prst="roundRect">
            <a:avLst>
              <a:gd name="adj" fmla="val 20382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924925" y="3353693"/>
            <a:ext cx="10832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24925" y="3563243"/>
            <a:ext cx="108327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can be refreshed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0206038" y="3229868"/>
            <a:ext cx="1309688" cy="747713"/>
          </a:xfrm>
          <a:prstGeom prst="roundRect">
            <a:avLst>
              <a:gd name="adj" fmla="val 20382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329863" y="3353693"/>
            <a:ext cx="10832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Reviewable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329863" y="3563243"/>
            <a:ext cx="108327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enforce quality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57200" y="4777829"/>
            <a:ext cx="2733675" cy="857250"/>
          </a:xfrm>
          <a:prstGeom prst="roundRect">
            <a:avLst>
              <a:gd name="adj" fmla="val 20000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9125" y="4920704"/>
            <a:ext cx="24580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skill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19125" y="5158829"/>
            <a:ext cx="245802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target capability explicitly.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305175" y="4777829"/>
            <a:ext cx="2733675" cy="857250"/>
          </a:xfrm>
          <a:prstGeom prst="roundRect">
            <a:avLst>
              <a:gd name="adj" fmla="val 20000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467100" y="4920704"/>
            <a:ext cx="24580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constraints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467100" y="5158829"/>
            <a:ext cx="245802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mandatory requirements and exclusions.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53150" y="4777829"/>
            <a:ext cx="2733675" cy="857250"/>
          </a:xfrm>
          <a:prstGeom prst="roundRect">
            <a:avLst>
              <a:gd name="adj" fmla="val 20000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15075" y="4920704"/>
            <a:ext cx="24580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evidence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315075" y="5158829"/>
            <a:ext cx="245802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the actual materials, not summaries only.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001125" y="4777829"/>
            <a:ext cx="2733675" cy="857250"/>
          </a:xfrm>
          <a:prstGeom prst="roundRect">
            <a:avLst>
              <a:gd name="adj" fmla="val 20000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163050" y="4920704"/>
            <a:ext cx="24580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output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9163050" y="5158829"/>
            <a:ext cx="245802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the plan format and level of detail you need.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5300"/>
            <a:ext cx="11503152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900"/>
              </a:spcAft>
              <a:buNone/>
            </a:pPr>
            <a:r>
              <a:rPr lang="en-US" sz="25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QA-PLAN-ORCHESTRATOR WORKS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200" y="959346"/>
            <a:ext cx="1150315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800"/>
              </a:spcAft>
              <a:buNone/>
            </a:pPr>
            <a:r>
              <a:rPr lang="en-US" sz="16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phased system with explicit artifacts and review gates.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1439317"/>
            <a:ext cx="11277600" cy="3830836"/>
          </a:xfrm>
          <a:prstGeom prst="roundRect">
            <a:avLst>
              <a:gd name="adj" fmla="val 6962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  <a:effectLst>
            <a:outerShdw sx="100000" sy="100000" kx="0" ky="0" algn="bl" rotWithShape="0" blurRad="304800" dist="114300" dir="5400000">
              <a:srgbClr val="22222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25" y="1677442"/>
            <a:ext cx="1020663" cy="1428750"/>
          </a:xfrm>
          <a:prstGeom prst="roundRect">
            <a:avLst>
              <a:gd name="adj" fmla="val 18664"/>
            </a:avLst>
          </a:prstGeom>
          <a:solidFill>
            <a:srgbClr val="FFFFFF"/>
          </a:solidFill>
          <a:ln w="9525">
            <a:solidFill>
              <a:srgbClr val="DEDE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1801267"/>
            <a:ext cx="788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89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9150" y="2161133"/>
            <a:ext cx="788474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9150" y="2572792"/>
            <a:ext cx="7884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runtime and classify state.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9714" y="2258467"/>
            <a:ext cx="155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58888" y="1677442"/>
            <a:ext cx="1020514" cy="1428750"/>
          </a:xfrm>
          <a:prstGeom prst="roundRect">
            <a:avLst>
              <a:gd name="adj" fmla="val 18667"/>
            </a:avLst>
          </a:prstGeom>
          <a:solidFill>
            <a:srgbClr val="FFF8F3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82713" y="1801267"/>
            <a:ext cx="788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82713" y="2161133"/>
            <a:ext cx="788322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182713" y="2572792"/>
            <a:ext cx="7883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requests by source family.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73129" y="2258467"/>
            <a:ext cx="155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2303" y="1677442"/>
            <a:ext cx="1020514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EDE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46128" y="1801267"/>
            <a:ext cx="788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89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46128" y="1997125"/>
            <a:ext cx="788322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Index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46128" y="2429917"/>
            <a:ext cx="7883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traceable lookup of collected context.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36543" y="2258467"/>
            <a:ext cx="155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85717" y="1677442"/>
            <a:ext cx="1020514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EDE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09542" y="1801267"/>
            <a:ext cx="788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89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09542" y="2089696"/>
            <a:ext cx="788322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09542" y="2429917"/>
            <a:ext cx="7883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coverage with deep research inputs.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9958" y="2258467"/>
            <a:ext cx="155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49132" y="1677442"/>
            <a:ext cx="1020514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EDE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72957" y="1801267"/>
            <a:ext cx="788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89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72957" y="2089696"/>
            <a:ext cx="788322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72957" y="2429917"/>
            <a:ext cx="7883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subcategory and grouped plan drafts.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63372" y="2258467"/>
            <a:ext cx="155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512546" y="1677442"/>
            <a:ext cx="1257300" cy="1428750"/>
          </a:xfrm>
          <a:prstGeom prst="roundRect">
            <a:avLst>
              <a:gd name="adj" fmla="val 15152"/>
            </a:avLst>
          </a:prstGeom>
          <a:solidFill>
            <a:srgbClr val="FFF8F3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36371" y="1801267"/>
            <a:ext cx="1029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36371" y="2161133"/>
            <a:ext cx="1029843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636371" y="2572792"/>
            <a:ext cx="102984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Full-context and shipment review passes.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63572" y="2258467"/>
            <a:ext cx="155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12746" y="1677442"/>
            <a:ext cx="1020514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EDE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236571" y="1801267"/>
            <a:ext cx="788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89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36571" y="1997125"/>
            <a:ext cx="788322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Pass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236571" y="2429917"/>
            <a:ext cx="7883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layering, search, and few-shot cleanup.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26987" y="2258467"/>
            <a:ext cx="155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476161" y="1677442"/>
            <a:ext cx="1020514" cy="1428750"/>
          </a:xfrm>
          <a:prstGeom prst="roundRect">
            <a:avLst>
              <a:gd name="adj" fmla="val 18667"/>
            </a:avLst>
          </a:prstGeom>
          <a:solidFill>
            <a:srgbClr val="FFF8F3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599986" y="1801267"/>
            <a:ext cx="788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99986" y="2018258"/>
            <a:ext cx="788322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599986" y="2287042"/>
            <a:ext cx="78832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final plan and generate summary output.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5325" y="3277642"/>
            <a:ext cx="3511451" cy="873323"/>
          </a:xfrm>
          <a:prstGeom prst="roundRect">
            <a:avLst>
              <a:gd name="adj" fmla="val 19632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57250" y="3420517"/>
            <a:ext cx="325135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phase1_spawn_manifest.json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57250" y="3674715"/>
            <a:ext cx="325135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evidence-collection subagent requests.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340126" y="3277642"/>
            <a:ext cx="3511600" cy="873323"/>
          </a:xfrm>
          <a:prstGeom prst="roundRect">
            <a:avLst>
              <a:gd name="adj" fmla="val 19632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502051" y="3420517"/>
            <a:ext cx="3251505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coverage_ledger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4502051" y="3674715"/>
            <a:ext cx="325150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how research and evidence map to scenario coverage.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985075" y="3277642"/>
            <a:ext cx="3511451" cy="873323"/>
          </a:xfrm>
          <a:prstGeom prst="roundRect">
            <a:avLst>
              <a:gd name="adj" fmla="val 19632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147000" y="3420517"/>
            <a:ext cx="325135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qa_plan_final.md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8147000" y="3674715"/>
            <a:ext cx="325135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final artifact after review and quality gates pass.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95325" y="4322415"/>
            <a:ext cx="2614613" cy="766763"/>
          </a:xfrm>
          <a:prstGeom prst="roundRect">
            <a:avLst>
              <a:gd name="adj" fmla="val 19876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38200" y="4446240"/>
            <a:ext cx="2375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Script-driven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38200" y="4655790"/>
            <a:ext cx="237544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logic lives in scripts, not ad hoc prompting.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3424238" y="4322415"/>
            <a:ext cx="2614613" cy="766763"/>
          </a:xfrm>
          <a:prstGeom prst="roundRect">
            <a:avLst>
              <a:gd name="adj" fmla="val 19876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567113" y="4446240"/>
            <a:ext cx="2375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Spawn-based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567113" y="4655790"/>
            <a:ext cx="237544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are launched from phase manifests.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6153150" y="4322415"/>
            <a:ext cx="2614613" cy="766763"/>
          </a:xfrm>
          <a:prstGeom prst="roundRect">
            <a:avLst>
              <a:gd name="adj" fmla="val 19876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96025" y="4446240"/>
            <a:ext cx="2375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Gate-enforced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296025" y="4655790"/>
            <a:ext cx="237544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phases only proceed when validation passes.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8882063" y="4322415"/>
            <a:ext cx="2614613" cy="766763"/>
          </a:xfrm>
          <a:prstGeom prst="roundRect">
            <a:avLst>
              <a:gd name="adj" fmla="val 19876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9024938" y="4446240"/>
            <a:ext cx="2375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Artifact-first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024938" y="4655790"/>
            <a:ext cx="237544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deltas, drafts, and final output are all persisted.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5300"/>
            <a:ext cx="11503152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900"/>
              </a:spcAft>
              <a:buNone/>
            </a:pPr>
            <a:r>
              <a:rPr lang="en-US" sz="25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SKILL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200" y="959346"/>
            <a:ext cx="1150315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950"/>
              </a:spcAft>
              <a:buNone/>
            </a:pPr>
            <a:r>
              <a:rPr lang="en-US" sz="16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quality comes from workflow discipline, not model cleverness alone.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1458367"/>
            <a:ext cx="3657600" cy="1714500"/>
          </a:xfrm>
          <a:prstGeom prst="roundRect">
            <a:avLst>
              <a:gd name="adj" fmla="val 13333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  <a:effectLst>
            <a:outerShdw sx="100000" sy="100000" kx="0" ky="0" algn="bl" rotWithShape="0" blurRad="247650" dist="95250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7225" y="1658392"/>
            <a:ext cx="3322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7225" y="1944142"/>
            <a:ext cx="332270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Script-driven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7225" y="2338388"/>
            <a:ext cx="332270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orchestrator calls explicit phase scripts instead of improvising the workflow inline.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67200" y="1458367"/>
            <a:ext cx="3657600" cy="171450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  <a:effectLst>
            <a:outerShdw sx="100000" sy="100000" kx="0" ky="0" algn="bl" rotWithShape="0" blurRad="247650" dist="95250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67225" y="1658392"/>
            <a:ext cx="3322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7225" y="1944142"/>
            <a:ext cx="332270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gates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67225" y="2338388"/>
            <a:ext cx="332270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has a contract, so weak evidence or broken drafts get blocked before promotion.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77200" y="1458367"/>
            <a:ext cx="3657600" cy="171450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  <a:effectLst>
            <a:outerShdw sx="100000" sy="100000" kx="0" ky="0" algn="bl" rotWithShape="0" blurRad="247650" dist="95250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77225" y="1658392"/>
            <a:ext cx="3322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77225" y="1944142"/>
            <a:ext cx="332270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evidence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77225" y="2338388"/>
            <a:ext cx="332270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lookup, and support context persist across runs instead of being rebuilt every time.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25267"/>
            <a:ext cx="3657600" cy="171450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  <a:effectLst>
            <a:outerShdw sx="100000" sy="100000" kx="0" ky="0" algn="bl" rotWithShape="0" blurRad="247650" dist="95250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7225" y="3525292"/>
            <a:ext cx="3322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7225" y="3811042"/>
            <a:ext cx="332270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checkpoints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7225" y="4205288"/>
            <a:ext cx="332270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Full-context review and shipment checkpoints force quality improvement before finalization.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67200" y="3325267"/>
            <a:ext cx="3657600" cy="1714500"/>
          </a:xfrm>
          <a:prstGeom prst="roundRect">
            <a:avLst>
              <a:gd name="adj" fmla="val 13333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  <a:effectLst>
            <a:outerShdw sx="100000" sy="100000" kx="0" ky="0" algn="bl" rotWithShape="0" blurRad="247650" dist="95250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67225" y="3525292"/>
            <a:ext cx="3322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67225" y="3811042"/>
            <a:ext cx="332270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467225" y="4205288"/>
            <a:ext cx="332270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Drafts, deltas, manifests, and finals all follow a predictable artifact model.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77200" y="3325267"/>
            <a:ext cx="3657600" cy="171450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  <a:effectLst>
            <a:outerShdw sx="100000" sy="100000" kx="0" ky="0" algn="bl" rotWithShape="0" blurRad="247650" dist="95250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77225" y="3525292"/>
            <a:ext cx="3322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77225" y="3811042"/>
            <a:ext cx="332270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at scale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8277225" y="4205288"/>
            <a:ext cx="3322701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planning logic can be applied repeatedly across requests without relying on one analyst.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5300"/>
            <a:ext cx="11503152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900"/>
              </a:spcAft>
              <a:buNone/>
            </a:pPr>
            <a:r>
              <a:rPr lang="en-US" sz="25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AND EVOLVE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200" y="959346"/>
            <a:ext cx="1150315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800"/>
              </a:spcAft>
              <a:buNone/>
            </a:pPr>
            <a:r>
              <a:rPr lang="en-US" sz="16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improves through benchmarked champion-vs-challenger iteration.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1439317"/>
            <a:ext cx="11277600" cy="2896493"/>
          </a:xfrm>
          <a:prstGeom prst="roundRect">
            <a:avLst>
              <a:gd name="adj" fmla="val 9208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  <a:effectLst>
            <a:outerShdw sx="100000" sy="100000" kx="0" ky="0" algn="bl" rotWithShape="0" blurRad="304800" dist="114300" dir="5400000">
              <a:srgbClr val="22222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25" y="1735038"/>
            <a:ext cx="2266950" cy="1657350"/>
          </a:xfrm>
          <a:prstGeom prst="roundRect">
            <a:avLst>
              <a:gd name="adj" fmla="val 12644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6300" y="1916013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989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876300" y="2173188"/>
            <a:ext cx="1943100" cy="260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gaps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76300" y="2528441"/>
            <a:ext cx="1943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misses, replay evidence, and fresh runs to identify planning blind spots.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153995" y="2416076"/>
            <a:ext cx="19431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540175" y="1735038"/>
            <a:ext cx="2266950" cy="1657350"/>
          </a:xfrm>
          <a:prstGeom prst="roundRect">
            <a:avLst>
              <a:gd name="adj" fmla="val 12644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21150" y="1916013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721150" y="2173188"/>
            <a:ext cx="1943100" cy="260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Mutate skill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721150" y="2528441"/>
            <a:ext cx="1943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one bounded hypothesis: knowledge pack, rubric, template, or script.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998845" y="2416076"/>
            <a:ext cx="19431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384875" y="1714500"/>
            <a:ext cx="2266950" cy="1698278"/>
          </a:xfrm>
          <a:prstGeom prst="roundRect">
            <a:avLst>
              <a:gd name="adj" fmla="val 12339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65850" y="1895475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989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565850" y="2152650"/>
            <a:ext cx="1943100" cy="260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565850" y="2507903"/>
            <a:ext cx="1943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smoke checks, benchmark cases, and comparison scoring against the champion.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843695" y="2416076"/>
            <a:ext cx="19431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229725" y="1677442"/>
            <a:ext cx="2266950" cy="1772543"/>
          </a:xfrm>
          <a:prstGeom prst="roundRect">
            <a:avLst>
              <a:gd name="adj" fmla="val 11822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410700" y="1858417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9410700" y="2115592"/>
            <a:ext cx="1943100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or reject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410700" y="2730847"/>
            <a:ext cx="1943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only when quality improves without introducing blocking regression.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95325" y="3602385"/>
            <a:ext cx="10801350" cy="533400"/>
          </a:xfrm>
          <a:prstGeom prst="roundRect">
            <a:avLst>
              <a:gd name="adj" fmla="val 32143"/>
            </a:avLst>
          </a:prstGeom>
          <a:solidFill>
            <a:srgbClr val="FFFFFF"/>
          </a:solidFill>
          <a:ln w="9525">
            <a:solidFill>
              <a:srgbClr val="ECEC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76300" y="3769072"/>
            <a:ext cx="13999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standard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160097" y="3745260"/>
            <a:ext cx="3218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blocking regression allowed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57200" y="4526310"/>
            <a:ext cx="2719388" cy="922139"/>
          </a:xfrm>
          <a:prstGeom prst="roundRect">
            <a:avLst>
              <a:gd name="adj" fmla="val 20658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9125" y="4688235"/>
            <a:ext cx="244344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cases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9125" y="4964460"/>
            <a:ext cx="2443448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phase contracts must continue to pass.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09938" y="4526310"/>
            <a:ext cx="2719388" cy="922139"/>
          </a:xfrm>
          <a:prstGeom prst="roundRect">
            <a:avLst>
              <a:gd name="adj" fmla="val 20658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71863" y="4688235"/>
            <a:ext cx="244344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replay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71863" y="4964460"/>
            <a:ext cx="2443448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challenger should expose known historical failure modes.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62675" y="4526310"/>
            <a:ext cx="2719388" cy="922139"/>
          </a:xfrm>
          <a:prstGeom prst="roundRect">
            <a:avLst>
              <a:gd name="adj" fmla="val 20658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24600" y="4688235"/>
            <a:ext cx="244344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enforcement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24600" y="4964460"/>
            <a:ext cx="2443448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finalization gates must still force the right audits.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15413" y="4526310"/>
            <a:ext cx="2719388" cy="922139"/>
          </a:xfrm>
          <a:prstGeom prst="roundRect">
            <a:avLst>
              <a:gd name="adj" fmla="val 20658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177338" y="4688235"/>
            <a:ext cx="244344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regression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77338" y="4964460"/>
            <a:ext cx="2443448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Unrelated feature planning quality should not degrade.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5300"/>
            <a:ext cx="11503152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900"/>
              </a:spcAft>
              <a:buNone/>
            </a:pPr>
            <a:r>
              <a:rPr lang="en-US" sz="25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200" y="959346"/>
            <a:ext cx="11503152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800"/>
              </a:spcAft>
              <a:buNone/>
            </a:pPr>
            <a:r>
              <a:rPr lang="en-US" sz="16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capability is already useful, but it is still optimized for a narrow operating context.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1439317"/>
            <a:ext cx="7580263" cy="4572000"/>
          </a:xfrm>
          <a:prstGeom prst="roundRect">
            <a:avLst>
              <a:gd name="adj" fmla="val 5833"/>
            </a:avLst>
          </a:prstGeom>
          <a:solidFill>
            <a:srgbClr val="F7F7F7"/>
          </a:solidFill>
          <a:ln w="9525">
            <a:solidFill>
              <a:srgbClr val="ECECEC"/>
            </a:solidFill>
          </a:ln>
          <a:effectLst>
            <a:outerShdw sx="100000" sy="100000" kx="0" ky="0" algn="bl" rotWithShape="0" blurRad="304800" dist="114300" dir="5400000">
              <a:srgbClr val="22222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275" y="1658392"/>
            <a:ext cx="72849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CONSTRAINT 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6275" y="1963192"/>
            <a:ext cx="3504307" cy="161925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144167"/>
            <a:ext cx="3205204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E2E-centric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250" y="2486174"/>
            <a:ext cx="320520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25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patterns today are tailored to end-to-end workflow features, not every testing domain.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313932" y="1963192"/>
            <a:ext cx="3504456" cy="161925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94907" y="2144167"/>
            <a:ext cx="320535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Prompt-sensitive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94907" y="2486174"/>
            <a:ext cx="3205356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25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instructions still lead to weak planning, even when the underlying skill is strong.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76275" y="3715792"/>
            <a:ext cx="3504307" cy="161925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3896767"/>
            <a:ext cx="3205204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Input-dependent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7250" y="4238774"/>
            <a:ext cx="3205204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25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quality tracks the quality of attached materials, runtime context, and source access.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313932" y="3715792"/>
            <a:ext cx="3504456" cy="161925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9525">
            <a:solidFill>
              <a:srgbClr val="FA661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94907" y="3896767"/>
            <a:ext cx="320535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maturity matters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4907" y="4238774"/>
            <a:ext cx="3205356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25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depth improves when feature-family knowledge packs are mature and defect-informed.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208913" y="1439317"/>
            <a:ext cx="3525887" cy="4572000"/>
          </a:xfrm>
          <a:prstGeom prst="roundRect">
            <a:avLst>
              <a:gd name="adj" fmla="val 7564"/>
            </a:avLst>
          </a:prstGeom>
          <a:solidFill>
            <a:srgbClr val="FFFAF6"/>
          </a:solidFill>
          <a:ln w="9525">
            <a:solidFill>
              <a:srgbClr val="FA6611"/>
            </a:solidFill>
          </a:ln>
          <a:effectLst>
            <a:outerShdw sx="100000" sy="100000" kx="0" ky="0" algn="bl" rotWithShape="0" blurRad="304800" dist="114300" dir="5400000">
              <a:srgbClr val="222222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27988" y="1658392"/>
            <a:ext cx="31494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PATH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27988" y="2029867"/>
            <a:ext cx="3149492" cy="987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spcAft>
                <a:spcPts val="1350"/>
              </a:spcAft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 scope without losing discipline.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27988" y="3188494"/>
            <a:ext cx="3087737" cy="1282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9550" indent="-209550">
              <a:lnSpc>
                <a:spcPts val="1721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beyond E2E-heavy feature families</a:t>
            </a:r>
            <a:endParaRPr lang="en-US" sz="1275" dirty="0"/>
          </a:p>
          <a:p>
            <a:pPr algn="l" marL="209550" indent="-209550">
              <a:lnSpc>
                <a:spcPts val="1721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prompt scaffolds for operators</a:t>
            </a:r>
            <a:endParaRPr lang="en-US" sz="1275" dirty="0"/>
          </a:p>
          <a:p>
            <a:pPr algn="l" marL="209550" indent="-209550">
              <a:lnSpc>
                <a:spcPts val="1721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evolving knowledge packs with real misses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1058525" y="5268367"/>
            <a:ext cx="46634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57200" y="6182767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13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stage: wider feature-family coverage with the same artifact and gate model.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Skill-Based QA Planning</dc:title>
  <dc:subject/>
  <dc:creator>Codex</dc:creator>
  <cp:lastModifiedBy>Codex</cp:lastModifiedBy>
  <cp:revision>1</cp:revision>
  <dcterms:created xsi:type="dcterms:W3CDTF">2026-03-24T07:12:20Z</dcterms:created>
  <dcterms:modified xsi:type="dcterms:W3CDTF">2026-03-24T07:12:20Z</dcterms:modified>
</cp:coreProperties>
</file>