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4546" y="2376488"/>
            <a:ext cx="673496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3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SKILL-BASED QA PLANNING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253061" y="3071813"/>
            <a:ext cx="37595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700"/>
              </a:spcAft>
              <a:buNone/>
            </a:pPr>
            <a:r>
              <a:rPr lang="en-US" sz="2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Manual to LLM-Assisted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57250" y="4005262"/>
            <a:ext cx="10477500" cy="476250"/>
          </a:xfrm>
          <a:prstGeom prst="roundRect">
            <a:avLst>
              <a:gd name="adj" fmla="val 36000"/>
            </a:avLst>
          </a:prstGeom>
          <a:solidFill>
            <a:srgbClr val="F7F7F7"/>
          </a:solidFill>
          <a:ln/>
          <a:effectLst>
            <a:outerShdw sx="100000" sy="100000" kx="0" ky="0" algn="bl" rotWithShape="0" blurRad="76200" dist="19050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2475" y="4005262"/>
            <a:ext cx="10687050" cy="476250"/>
          </a:xfrm>
          <a:prstGeom prst="rect">
            <a:avLst/>
          </a:prstGeom>
          <a:noFill/>
          <a:ln/>
        </p:spPr>
        <p:txBody>
          <a:bodyPr wrap="square" lIns="0" tIns="114300" rIns="0" bIns="114300" rtlCol="0" anchor="ctr"/>
          <a:lstStyle/>
          <a:p>
            <a:pPr algn="ctr" indent="0" marL="0">
              <a:spcBef>
                <a:spcPts val="2250"/>
              </a:spcBef>
              <a:buNone/>
            </a:pPr>
            <a:r>
              <a:rPr lang="en-US" sz="16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LLM</a:t>
            </a:r>
            <a:endParaRPr lang="en-US" sz="1650" dirty="0"/>
          </a:p>
          <a:p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LLM</a:t>
            </a:r>
            <a:endParaRPr lang="en-US" sz="1650" dirty="0"/>
          </a:p>
          <a:p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650" dirty="0"/>
          </a:p>
          <a:p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650" dirty="0"/>
          </a:p>
          <a:p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Evolution</a:t>
            </a:r>
            <a:endParaRPr lang="en-US" sz="1650" dirty="0"/>
          </a:p>
          <a:p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spcBef>
                <a:spcPts val="2250"/>
              </a:spcBef>
              <a:buNone/>
            </a:pPr>
            <a:r>
              <a:rPr lang="en-US" sz="1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33400"/>
            <a:ext cx="66742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LLM: MANUAL QA PLANNING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04900"/>
            <a:ext cx="4301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80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fragmented, analyst-dependent</a:t>
            </a:r>
            <a:endParaRPr lang="en-US" sz="1800" dirty="0"/>
          </a:p>
        </p:txBody>
      </p:sp>
      <p:pic>
        <p:nvPicPr>
          <p:cNvPr id="4" name="Image 0" descr="/var/folders/q8/l671j9ws635cvgzy3svvtgmcx2crw6/T/html2pptx-KTSDRp/html2pptx-bg-1774335210772-39fd2ab8c2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543050"/>
            <a:ext cx="97536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400" y="5295900"/>
            <a:ext cx="1894284" cy="42862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08767" y="5410200"/>
            <a:ext cx="1543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materials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732484" y="5295900"/>
            <a:ext cx="1589633" cy="42862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910898" y="5410200"/>
            <a:ext cx="12328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reading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26918" y="5295900"/>
            <a:ext cx="1795314" cy="42862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03274" y="5410200"/>
            <a:ext cx="1442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Experience-driven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727031" y="5295900"/>
            <a:ext cx="1524000" cy="42862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906101" y="5410200"/>
            <a:ext cx="11658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mapping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555831" y="5295900"/>
            <a:ext cx="2052489" cy="428625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729616" y="5410200"/>
            <a:ext cx="17049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structure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33400"/>
            <a:ext cx="82082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LLM: PROMPT + SKILL + CONSTRAINTS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04900"/>
            <a:ext cx="3360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80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generation workflow</a:t>
            </a:r>
            <a:endParaRPr lang="en-US" sz="1800" dirty="0"/>
          </a:p>
        </p:txBody>
      </p:sp>
      <p:pic>
        <p:nvPicPr>
          <p:cNvPr id="4" name="Image 0" descr="/var/folders/q8/l671j9ws635cvgzy3svvtgmcx2crw6/T/html2pptx-Thpomf/html2pptx-bg-1774335211349-eb723953dbd6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543050"/>
            <a:ext cx="8801100" cy="3276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250" y="4991100"/>
            <a:ext cx="1143000" cy="695325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71450" tIns="57150" rIns="1714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9130" y="5238750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828800" y="4991100"/>
            <a:ext cx="1143000" cy="695325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71450" tIns="57150" rIns="1714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011680" y="5238750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181350" y="4991100"/>
            <a:ext cx="1471166" cy="695325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71450" tIns="57150" rIns="1714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360948" y="5238750"/>
            <a:ext cx="1111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62066" y="4991100"/>
            <a:ext cx="1143000" cy="695325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71450" tIns="57150" rIns="1714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44946" y="5238750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214616" y="4991100"/>
            <a:ext cx="1143000" cy="695325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71450" tIns="57150" rIns="1714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97496" y="5238750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624316" y="5162550"/>
            <a:ext cx="310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195816" y="4991100"/>
            <a:ext cx="1882973" cy="695325"/>
          </a:xfrm>
          <a:prstGeom prst="roundRect">
            <a:avLst>
              <a:gd name="adj" fmla="val 13699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71450" tIns="57150" rIns="1714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QA Plan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371296" y="5238750"/>
            <a:ext cx="1532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QA Plan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7700" y="5972175"/>
            <a:ext cx="463093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25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prompt specifies skill, requirements, materials, output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33400"/>
            <a:ext cx="71663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QA-PLAN-ORCHESTRATOR WORKS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04900"/>
            <a:ext cx="25825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80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Phased, gated workflow</a:t>
            </a:r>
            <a:endParaRPr lang="en-US" sz="1800" dirty="0"/>
          </a:p>
        </p:txBody>
      </p:sp>
      <p:pic>
        <p:nvPicPr>
          <p:cNvPr id="4" name="Image 0" descr="/var/folders/q8/l671j9ws635cvgzy3svvtgmcx2crw6/T/html2pptx-RKgb0C/html2pptx-bg-1774335211890-de4f97dc0f6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543050"/>
            <a:ext cx="9753600" cy="3467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250" y="5243513"/>
            <a:ext cx="10668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888888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33350" tIns="57150" rIns="1333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Setup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733550" y="5243513"/>
            <a:ext cx="1095375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33350" tIns="57150" rIns="133350" bIns="5715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Evidence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19425" y="5143500"/>
            <a:ext cx="1218754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9050">
            <a:solidFill>
              <a:srgbClr val="888888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33350" tIns="57150" rIns="1333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Artifact Index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28679" y="5143500"/>
            <a:ext cx="1595735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9050">
            <a:solidFill>
              <a:srgbClr val="888888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33350" tIns="57150" rIns="1333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Research &amp; Coverage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14914" y="5243513"/>
            <a:ext cx="10668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888888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33350" tIns="57150" rIns="1333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Drafting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72214" y="5143500"/>
            <a:ext cx="1594396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33350" tIns="57150" rIns="133350" bIns="5715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Review Checkpoints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257109" y="5143500"/>
            <a:ext cx="1201341" cy="752475"/>
          </a:xfrm>
          <a:prstGeom prst="roundRect">
            <a:avLst>
              <a:gd name="adj" fmla="val 12658"/>
            </a:avLst>
          </a:prstGeom>
          <a:solidFill>
            <a:srgbClr val="FFFFFF"/>
          </a:solidFill>
          <a:ln w="19050">
            <a:solidFill>
              <a:srgbClr val="888888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33350" tIns="57150" rIns="133350" bIns="5715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Quality Pass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648950" y="5243513"/>
            <a:ext cx="1066800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lIns="133350" tIns="57150" rIns="133350" bIns="5715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Finalize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5300" y="6105525"/>
            <a:ext cx="2689473" cy="390525"/>
          </a:xfrm>
          <a:prstGeom prst="roundRect">
            <a:avLst>
              <a:gd name="adj" fmla="val 24390"/>
            </a:avLst>
          </a:prstGeom>
          <a:solidFill>
            <a:srgbClr val="F7F7F7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2715" y="6200775"/>
            <a:ext cx="2354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phase1_spawn_manifest.json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413373" y="6105525"/>
            <a:ext cx="1686967" cy="390525"/>
          </a:xfrm>
          <a:prstGeom prst="roundRect">
            <a:avLst>
              <a:gd name="adj" fmla="val 24390"/>
            </a:avLst>
          </a:prstGeom>
          <a:solidFill>
            <a:srgbClr val="F7F7F7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590813" y="6200775"/>
            <a:ext cx="13320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coverage_ledger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28940" y="6105525"/>
            <a:ext cx="1717477" cy="390525"/>
          </a:xfrm>
          <a:prstGeom prst="roundRect">
            <a:avLst>
              <a:gd name="adj" fmla="val 24390"/>
            </a:avLst>
          </a:prstGeom>
          <a:solidFill>
            <a:srgbClr val="F7F7F7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506075" y="6200775"/>
            <a:ext cx="13632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qa_plan_final.md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33400"/>
            <a:ext cx="28791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SKILL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04900"/>
            <a:ext cx="3569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80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discipline drives quality</a:t>
            </a:r>
            <a:endParaRPr lang="en-US" sz="1800" dirty="0"/>
          </a:p>
        </p:txBody>
      </p:sp>
      <p:pic>
        <p:nvPicPr>
          <p:cNvPr id="4" name="Image 0" descr="/var/folders/q8/l671j9ws635cvgzy3svvtgmcx2crw6/T/html2pptx-ul71kx/html2pptx-bg-1774335212450-96f37e5411f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543050"/>
            <a:ext cx="5943600" cy="3181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250" y="4857750"/>
            <a:ext cx="16002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93420" y="4972050"/>
            <a:ext cx="11658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Script-driven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381250" y="4857750"/>
            <a:ext cx="16002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598420" y="4972050"/>
            <a:ext cx="11658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gates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86250" y="4857750"/>
            <a:ext cx="1948011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499942" y="4972050"/>
            <a:ext cx="15206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evidence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6250" y="5457825"/>
            <a:ext cx="2006798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89354" y="5572125"/>
            <a:ext cx="15805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checkpoints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787848" y="5457825"/>
            <a:ext cx="1892498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002095" y="5572125"/>
            <a:ext cx="14640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76250" y="6057900"/>
            <a:ext cx="2409081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85331" y="6172200"/>
            <a:ext cx="19909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consistent planning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33400"/>
            <a:ext cx="425736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AND EVOLVE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04900"/>
            <a:ext cx="35769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80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Champion-vs-challenger iteration</a:t>
            </a:r>
            <a:endParaRPr lang="en-US" sz="1800" dirty="0"/>
          </a:p>
        </p:txBody>
      </p:sp>
      <p:pic>
        <p:nvPicPr>
          <p:cNvPr id="4" name="Image 0" descr="/var/folders/q8/l671j9ws635cvgzy3svvtgmcx2crw6/T/html2pptx-TMQAhE/html2pptx-bg-1774335212963-2ab9d88fd46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543050"/>
            <a:ext cx="6896100" cy="3276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250" y="4953000"/>
            <a:ext cx="1627436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93148" y="5067300"/>
            <a:ext cx="1193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cases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370386" y="4953000"/>
            <a:ext cx="1600200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587556" y="5067300"/>
            <a:ext cx="11658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replay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37286" y="4953000"/>
            <a:ext cx="2357586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446882" y="5067300"/>
            <a:ext cx="19383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 enforcement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61572" y="4953000"/>
            <a:ext cx="1930598" cy="42862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075438" y="5067300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regression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33400"/>
            <a:ext cx="408172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2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104900"/>
            <a:ext cx="19752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80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but scoped</a:t>
            </a:r>
            <a:endParaRPr lang="en-US" sz="1800" dirty="0"/>
          </a:p>
        </p:txBody>
      </p:sp>
      <p:pic>
        <p:nvPicPr>
          <p:cNvPr id="4" name="Image 0" descr="/var/folders/q8/l671j9ws635cvgzy3svvtgmcx2crw6/T/html2pptx-sGPWcE/html2pptx-bg-1774335213542-66a99963353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543050"/>
            <a:ext cx="6419850" cy="3276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250" y="4953000"/>
            <a:ext cx="269751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43585" y="5067300"/>
            <a:ext cx="23628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to E2E workflow features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383310" y="4953000"/>
            <a:ext cx="2213372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555486" y="5067300"/>
            <a:ext cx="18690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to prompt quality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806232" y="4953000"/>
            <a:ext cx="2149227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79049" y="5067300"/>
            <a:ext cx="18035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input/context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165009" y="4953000"/>
            <a:ext cx="2883991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FA6611"/>
            </a:solidFill>
          </a:ln>
          <a:effectLst>
            <a:outerShdw sx="100000" sy="100000" kx="0" ky="0" algn="bl" rotWithShape="0" blurRad="38100" dist="9525" dir="5400000">
              <a:srgbClr val="222222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330479" y="5067300"/>
            <a:ext cx="255305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varies by knowledge pack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430000" y="4953000"/>
            <a:ext cx="31089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66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76250" y="5924550"/>
            <a:ext cx="37717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13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 with feature maturity and context depth.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2026-03-24T06:53:33Z</dcterms:created>
  <dcterms:modified xsi:type="dcterms:W3CDTF">2026-03-24T06:53:33Z</dcterms:modified>
</cp:coreProperties>
</file>